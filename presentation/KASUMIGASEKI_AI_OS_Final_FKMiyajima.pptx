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54864" cy="6858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9E3A"/>
                </a:solidFill>
              </a:rPr>
              <a:t>霞ヶ関キャピタル株式会社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第1回 AI活用グランプリ　活用事例部門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9E3A"/>
                </a:solidFill>
              </a:rPr>
              <a:t>ホテル事業部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AI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7955279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2F5F9"/>
                </a:solidFill>
              </a:rPr>
              <a:t>現場情報を、経営判断・稟議・実行指示に変換するAI業務基盤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山口七星　｜　Hospitality and Culture Division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2026年6月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9E3A"/>
                </a:solidFill>
              </a:rPr>
              <a:t>Input
　↓
AI処理
　↓
Output
　↓
実行管理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74320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取り組みの背景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なぜAI業務OSが必要だったか：4つの構造的課題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情報の属人化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Teams・PMS・会議メモ・OTA・ベンダー見積が散在
優先順位の判断が担当者経験に完全依存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報告品質のばらつき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論点整理の深さ・経営向けの見せ方に担当者差
差し戻し・再考の時間が発生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5760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434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専門知識への依存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要件定義・市場調査・SNS戦略・価格施策を
外部委託または専門人材に依存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434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94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施策実行スピードの低下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51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報告・稟議・準備に時間がかかり
価格施策・開業準備の意思決定頻度が限定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74320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応募内容の概要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ホテル事業部の業務OS化：情報を判断材料に変換するフロー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651760" cy="411480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現場メモ
売上数値
会議内容
ベンダー論点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697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E3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651760" cy="4114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論点整理
構造化
言語変換
ToDo化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697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E3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2651760" cy="411480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役員報告
稟議文案
週次レポート
価格施策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697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E3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2651760" cy="4114800"/>
          </a:xfrm>
          <a:prstGeom prst="rect">
            <a:avLst/>
          </a:prstGeom>
          <a:solidFill>
            <a:srgbClr val="5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実行管理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Notion連携
進捗管理
承認サマリー
宿題管理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86400"/>
            <a:ext cx="11567160" cy="685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9E3A"/>
                </a:solidFill>
              </a:rPr>
              <a:t>💡 ポイント：AIを単発利用で終わらせず、入力・処理・出力・実行管理の業務フローに完全組込み。属人的な「考える・整理する・判断材料にする」プロセスを再現可能な業務基盤として設計。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48495" cy="8686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E4A"/>
                </a:solidFill>
              </a:rPr>
              <a:t>HOTEL FORK &amp; KNIFE Miyajima　ADR・OCC改善の示唆だし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08960"/>
            <a:ext cx="3200400" cy="27432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108960"/>
            <a:ext cx="3200400" cy="4114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</a:rPr>
              <a:t>論点1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E3A"/>
                </a:solidFill>
              </a:rPr>
              <a:t>レベニュー管理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5F9"/>
                </a:solidFill>
              </a:rPr>
              <a:t>Twin A OCC 22%
の構造課題と
改善施策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108960"/>
            <a:ext cx="3200400" cy="27432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</a:rPr>
              <a:t>論点2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E3A"/>
                </a:solidFill>
              </a:rPr>
              <a:t>チャネル最適化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5F9"/>
                </a:solidFill>
              </a:rPr>
              <a:t>一休33%依存
からの脱却
収益シミュレーション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108960"/>
            <a:ext cx="3200400" cy="27432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108960"/>
            <a:ext cx="3200400" cy="4114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</a:rPr>
              <a:t>論点3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66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E3A"/>
                </a:solidFill>
              </a:rPr>
              <a:t>口コミ×競合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069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5F9"/>
                </a:solidFill>
              </a:rPr>
              <a:t>差分抽出と
次の打ち手
界 宮島開業対策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57A"/>
                </a:solidFill>
              </a:rPr>
              <a:t>11スキルが連携して、現場数値→経営判断サマリーまでを目の前で生成します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9E3A"/>
                </a:solidFill>
              </a:rPr>
              <a:t>[ DEMO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HOTEL FORK &amp; KNIFE Miyajima　実データで11スキルを実行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1371600" cy="68580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E4A"/>
                </a:solidFill>
              </a:rPr>
              <a:t>0〜15秒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01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①②③ OCC/ADR/Twin Aの数値構造化→3シナリオ→価格施策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32888"/>
            <a:ext cx="1371600" cy="68580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4261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E4A"/>
                </a:solidFill>
              </a:rPr>
              <a:t>15〜30秒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6426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④⑤⑥ 一休依存の収益リスク分解→直販シミュレーション→90日ロードマップ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74136"/>
            <a:ext cx="1371600" cy="68580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8386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E4A"/>
                </a:solidFill>
              </a:rPr>
              <a:t>30〜50秒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48386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⑦⑧⑨⑩ 口コミ示唆→競合差分→優先度マトリクス→役員レポート成型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15384"/>
            <a:ext cx="1371600" cy="6858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E4A"/>
                </a:solidFill>
              </a:rPr>
              <a:t>50〜55秒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32511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「最後のスキル⑪を今この場でライブ実行します」と宣言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56632"/>
            <a:ext cx="1371600" cy="68580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E4A"/>
                </a:solidFill>
              </a:rPr>
              <a:t>55〜75秒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5166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⑪ executive-decision-synthesizer：3論点統合＋承認事項リスト　ライブ生成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</a:rPr>
              <a:t>⚠ 失敗時：「念のため事前収録でお見せします」→ タブBに即切替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74320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期待効果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数字で見る成果：4事例平均 約76%の工数削減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週次レポート
作成時間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週150分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週30分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30759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325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週次アジェンダ
更新時間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週60分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週5分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130759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▲92%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23444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25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ベンダー要件定義
・対応工数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週15〜20h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週6h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130759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6616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市場調査
戦略立案コスト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数百万円〜
（代理店）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0円
（AI内製）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63931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639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56616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399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同時進行できる
開業準備物件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1物件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3物件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59" y="363931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3639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56616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価格施策
検討頻度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月1回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363931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3639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4倍以上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74320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実現性・横展開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KC全社への展開：4点の標準化で7部門＋既存施設に適用可能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01  プロンプト集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02  入力フォーマット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03  出力フォーマット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04  利用ルール（ガバナンス）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74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→ この4点を整備するだけで全部署・既存施設に横展開可能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11567160" cy="822960"/>
          </a:xfrm>
          <a:prstGeom prst="rect">
            <a:avLst/>
          </a:prstGeom>
          <a:solidFill>
            <a:srgbClr val="1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73152" cy="82296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591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★ 既存施設での示唆だし（F&amp;K宮島で実証）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97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OCC/ADR/口コミ/競合データを入力→改善施策・チャネル戦略・役員サマリーをその場で生成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9184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投資・不動産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物件論点整理・投資判断・リスク抽出・稟議文案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29184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開発・建設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工事/設計/ベンダー要件定義・進捗報告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9184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経理・財務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請求・証憑リスク整理・稟議変換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29184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法務・コンプラ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契約書レビュー・リスク分類・確認事項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0060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92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営業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257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商談メモ→提案書・顧客別アプローチ整理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80060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4892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情シス・AILAB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257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要件定義・ベンダー対応・仕様書作成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800600"/>
            <a:ext cx="2743200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4892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経営企画／人事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5257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会議ログ論点整理・役員サマリー・求人票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016752"/>
            <a:ext cx="1156716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053328"/>
            <a:ext cx="11247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9E3A"/>
                </a:solidFill>
              </a:rPr>
              <a:t>🔒 ガバナンス：投入前マスキングルール整備 ／ 学習使用なし契約プラン利用 ／ 情シス・AILABと利用ガイドライン共同策定中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AIの価値は、文章をきれいにすることではありません。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9E3A"/>
                </a:solidFill>
              </a:rPr>
              <a:t>現場に散らばる情報を、意思決定できる状態に変換することです。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34640"/>
            <a:ext cx="2926080" cy="18288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29260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E3A"/>
                </a:solidFill>
              </a:rPr>
              <a:t>76%
工数削減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77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</a:rPr>
              <a:t>4事例平均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834640"/>
            <a:ext cx="2926080" cy="18288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2834640"/>
            <a:ext cx="29260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E3A"/>
                </a:solidFill>
              </a:rPr>
              <a:t>0円
内製化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977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</a:rPr>
              <a:t>代理店費→AI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834640"/>
            <a:ext cx="2926080" cy="18288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834640"/>
            <a:ext cx="29260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E3A"/>
                </a:solidFill>
              </a:rPr>
              <a:t>3倍
同時推進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77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</a:rPr>
              <a:t>開業準備物件数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5F9"/>
                </a:solidFill>
              </a:rPr>
              <a:t>ホテル事業部で実証したこのモデルを、KC全社の業務品質底上げに展開します。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