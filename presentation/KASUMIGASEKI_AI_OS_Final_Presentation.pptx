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41080" y="0"/>
            <a:ext cx="54864" cy="6858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9E3A"/>
                </a:solidFill>
              </a:rPr>
              <a:t>霞ヶ関キャピタル株式会社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第1回 AI活用グランプリ　活用事例部門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9E3A"/>
                </a:solidFill>
              </a:rPr>
              <a:t>ホテル事業部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AI 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7955279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2F5F9"/>
                </a:solidFill>
              </a:rPr>
              <a:t>現場情報を、経営判断・稟議・実行指示に変換するAI業務基盤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山口七星　｜　Hospitality and Culture Division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2026年6月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3716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9E3A"/>
                </a:solidFill>
              </a:rPr>
              <a:t>Input
　↓
AI処理
　↓
Output
　↓
実行管理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560320" cy="292608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920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</a:rPr>
              <a:t>取り組みの背景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なぜAI業務OSが必要だったか：4つの構造的課題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669280" cy="22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94360" cy="2286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2011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E4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9E3A"/>
                </a:solidFill>
              </a:rPr>
              <a:t>情報の属人化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Teams・PMS・会議メモ・OTA・ベンダー見積が散在
優先順位の判断が担当者経験に完全依存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5669280" cy="22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94360" cy="2286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011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E4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9E3A"/>
                </a:solidFill>
              </a:rPr>
              <a:t>報告品質のばらつき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論点整理の深さ・経営向けの見せ方に担当者差
差し戻し・再考の時間が発生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57600"/>
            <a:ext cx="5669280" cy="22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594360" cy="2286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4434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E4A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9E3A"/>
                </a:solidFill>
              </a:rPr>
              <a:t>専門知識への依存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要件定義・市場調査・SNS戦略・価格施策を
外部委託または専門人材に依存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5669280" cy="22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657600"/>
            <a:ext cx="594360" cy="228600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434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E4A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94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9E3A"/>
                </a:solidFill>
              </a:rPr>
              <a:t>施策実行スピードの低下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519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報告・稟議・準備に時間がかかり
価格施策・開業準備の意思決定頻度が限定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560320" cy="292608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920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</a:rPr>
              <a:t>応募内容の概要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ホテル事業部の業務OS化：情報を判断材料に変換するフロー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651760" cy="411480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874519"/>
            <a:ext cx="24688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現場メモ
売上数値
会議内容
ベンダー論点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697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E3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651760" cy="4114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618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AI処理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74519"/>
            <a:ext cx="24688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論点整理
構造化
言語変換
ToDo化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697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E3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2651760" cy="411480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2618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1874519"/>
            <a:ext cx="24688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役員報告
稟議文案
週次レポート
価格施策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697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E3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234440"/>
            <a:ext cx="2651760" cy="4114800"/>
          </a:xfrm>
          <a:prstGeom prst="rect">
            <a:avLst/>
          </a:prstGeom>
          <a:solidFill>
            <a:srgbClr val="5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2618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実行管理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874519"/>
            <a:ext cx="24688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9659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Notion連携
進捗管理
承認サマリー
宿題管理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486400"/>
            <a:ext cx="11567160" cy="685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9E3A"/>
                </a:solidFill>
              </a:rPr>
              <a:t>💡 ポイント：AIを単発利用で終わらせず、入力・処理・出力・実行管理の業務フローに完全組込み。属人的だった「考える・整理する・判断材料にする」プロセスを再現可能な業務基盤として設計。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7619695" cy="82296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E4A"/>
                </a:solidFill>
              </a:rPr>
              <a:t>事例D：11スキル連携によるインバウンド戦略内製化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F5F9"/>
                </a:solidFill>
              </a:rPr>
              <a:t>外部代理店に委託していた「市場調査→戦略設計→コンテンツ制作」を
担当者単独でゼロから完結させる業務フローを、今この場で動かします。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① competitive-intelligence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43891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② source-validation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3891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③ knowledge-structuring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365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④ deep-research-synthesizer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47365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⑤ flowchart-decision-builder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7365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⑥ scqa-writing-framework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840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⑦ workflow-automation-agent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50840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⑧ hook-generator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0840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⑨ structured-copywriting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⑩ content-repurposing-engine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543153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9E3A"/>
                </a:solidFill>
              </a:rPr>
              <a:t>⑪ tone-style-enforcer  ← 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9E3A"/>
                </a:solidFill>
              </a:rPr>
              <a:t>[ DEMO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ここでライブデモを実行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371600" cy="64008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</a:rPr>
              <a:t>0〜50秒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8288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早送り録画再生（スキル①〜⑩）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42032"/>
            <a:ext cx="13716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</a:rPr>
              <a:t>50〜55秒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633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「最後のスキル⑪をライブで実行します」と宣言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46704"/>
            <a:ext cx="13716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3814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</a:rPr>
              <a:t>55〜65秒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43814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11_tone_style_enforcer_input_LIVE.txtを貼り付け→実行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51376"/>
            <a:ext cx="1371600" cy="64008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4281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</a:rPr>
              <a:t>65〜75秒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2428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出力表示を会場に見せる（沈黙OK）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956048"/>
            <a:ext cx="1371600" cy="64008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4748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</a:rPr>
              <a:t>75〜80秒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504748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「3パターン完成。これが代理店に頼んでいた仕事です」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</a:rPr>
              <a:t>⚠ 失敗時：「念のため事前収録でお見せします」→ タブBに切替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560320" cy="292608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920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</a:rPr>
              <a:t>期待効果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数字で見る成果：4事例平均 約76%の工数削減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週次レポート
作成時間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20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週150分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週30分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30759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3075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▲80%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3444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3258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週次アジェンダ
更新時間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1920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週60分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週5分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59" y="130759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3075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▲92%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23444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258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ベンダー要件定義
・対応工数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920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週15〜20h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週6h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130759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13075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6616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657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市場調査
戦略立案コスト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251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数百万円〜
（代理店）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0円
（AI内製）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63931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36393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▲100%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56616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399" y="3657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同時進行できる
開業準備物件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399" y="4251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1物件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399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3物件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59" y="363931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36393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3566160"/>
            <a:ext cx="3657600" cy="2103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3657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9E3A"/>
                </a:solidFill>
              </a:rPr>
              <a:t>価格施策
検討頻度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251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Before: 月1回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After:  週次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3639312"/>
            <a:ext cx="1280160" cy="502920"/>
          </a:xfrm>
          <a:prstGeom prst="rect">
            <a:avLst/>
          </a:prstGeom>
          <a:solidFill>
            <a:srgbClr val="1A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36393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4倍以上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560320" cy="292608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920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</a:rPr>
              <a:t>実現性・横展開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KC全社への展開：4点の標準化で7部門に適用可能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7432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01  プロンプト集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7432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02  入力フォーマット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27432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03  出力フォーマット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188720"/>
            <a:ext cx="2743200" cy="640080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04  利用ルール（ガバナンス）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7451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→ この4点を整備するだけで全部署に横展開可能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77440"/>
            <a:ext cx="2743200" cy="1645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E3A"/>
                </a:solidFill>
              </a:rPr>
              <a:t>投資・不動産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880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物件論点整理・投資判断・リスク抽出・稟議文案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377440"/>
            <a:ext cx="2743200" cy="1645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E3A"/>
                </a:solidFill>
              </a:rPr>
              <a:t>開発・建設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880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工事/設計/ベンダー要件定義・進捗報告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377440"/>
            <a:ext cx="2743200" cy="1645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E3A"/>
                </a:solidFill>
              </a:rPr>
              <a:t>経理・財務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2880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請求・証憑リスク整理・稟議変換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377440"/>
            <a:ext cx="2743200" cy="1645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E3A"/>
                </a:solidFill>
              </a:rPr>
              <a:t>法務・コンプラ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880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契約書レビュー・リスク分類・確認事項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160520"/>
            <a:ext cx="2743200" cy="1645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2519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E3A"/>
                </a:solidFill>
              </a:rPr>
              <a:t>営業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6634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商談メモ→提案書・顧客別アプローチ整理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160520"/>
            <a:ext cx="2743200" cy="1645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2519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E3A"/>
                </a:solidFill>
              </a:rPr>
              <a:t>情シス・AILAB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6634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要件定義・ベンダー対応・仕様書作成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160520"/>
            <a:ext cx="2743200" cy="1645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79" y="42519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E3A"/>
                </a:solidFill>
              </a:rPr>
              <a:t>経営企画／人事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79" y="46634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会議ログ論点整理・役員サマリー・求人票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989320"/>
            <a:ext cx="1156716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1675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E3A"/>
                </a:solidFill>
              </a:rPr>
              <a:t>🔒 ガバナンス：投入前マスキングルール整備 ／ 学習使用なし契約プラン利用 ／ 情シス・AILABと利用ガイドライン共同策定中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AIの価値は、文章をきれいにすることではありません。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9E3A"/>
                </a:solidFill>
              </a:rPr>
              <a:t>現場に散らばる情報を、意思決定できる状態に変換することです。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834640"/>
            <a:ext cx="2926080" cy="18288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834640"/>
            <a:ext cx="29260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9E3A"/>
                </a:solidFill>
              </a:rPr>
              <a:t>76%
工数削減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77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</a:rPr>
              <a:t>4事例平均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834640"/>
            <a:ext cx="2926080" cy="18288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2834640"/>
            <a:ext cx="29260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9E3A"/>
                </a:solidFill>
              </a:rPr>
              <a:t>0円
内製化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977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</a:rPr>
              <a:t>代理店費→AI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834640"/>
            <a:ext cx="2926080" cy="18288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834640"/>
            <a:ext cx="2926080" cy="54864"/>
          </a:xfrm>
          <a:prstGeom prst="rect">
            <a:avLst/>
          </a:prstGeom>
          <a:solidFill>
            <a:srgbClr val="C9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9E3A"/>
                </a:solidFill>
              </a:rPr>
              <a:t>3倍
同時推進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77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</a:rPr>
              <a:t>開業準備物件数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F5F9"/>
                </a:solidFill>
              </a:rPr>
              <a:t>ホテル事業部で実証したこのモデルを、KC全社の業務品質底上げに展開します。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ご清聴ありがとうございました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9E3A"/>
                </a:solidFill>
              </a:rPr>
              <a:t>第1回 AI活用グランプリ ～ Share &amp; Spark ～　｜　霞ヶ関キャピタル株式会社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